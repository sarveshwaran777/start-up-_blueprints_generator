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6"/>
  </p:notesMasterIdLst>
  <p:sldIdLst>
    <p:sldId id="290" r:id="rId2"/>
    <p:sldId id="291" r:id="rId3"/>
    <p:sldId id="292" r:id="rId4"/>
    <p:sldId id="293" r:id="rId5"/>
    <p:sldId id="294" r:id="rId6"/>
    <p:sldId id="295" r:id="rId7"/>
    <p:sldId id="296" r:id="rId8"/>
    <p:sldId id="297" r:id="rId9"/>
    <p:sldId id="279" r:id="rId10"/>
    <p:sldId id="298" r:id="rId11"/>
    <p:sldId id="299" r:id="rId12"/>
    <p:sldId id="300" r:id="rId13"/>
    <p:sldId id="301" r:id="rId14"/>
    <p:sldId id="302" r:id="rId15"/>
    <p:sldId id="303" r:id="rId16"/>
    <p:sldId id="310" r:id="rId17"/>
    <p:sldId id="311" r:id="rId18"/>
    <p:sldId id="312" r:id="rId19"/>
    <p:sldId id="304" r:id="rId20"/>
    <p:sldId id="305" r:id="rId21"/>
    <p:sldId id="306" r:id="rId22"/>
    <p:sldId id="307" r:id="rId23"/>
    <p:sldId id="308" r:id="rId24"/>
    <p:sldId id="309" r:id="rId2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8E9CB32A-B328-07DF-4F33-E0118C920B5A}"/>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BD392DC-EA03-14B5-7A53-AC36124B4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90BE8D5-07EC-73D0-0A62-4778024FF0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842077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F18774C-544B-0071-4FA9-86D0ADEC5A87}"/>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68645894-EE59-A5F4-D411-C82EB564E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EE489F0-0910-6D8B-0254-C25DB088272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7735855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BB47F127-39C9-4CE0-52A6-66BD53AE96F2}"/>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57CB72F8-8B0E-1466-D091-917F3E75592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1CEA3A31-DD75-5F0D-19FB-8192F5E7F99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4587127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11.jpeg"/><Relationship Id="rId4" Type="http://schemas.openxmlformats.org/officeDocument/2006/relationships/image" Target="../media/image10.jpeg"/></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3.jpeg"/></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5.jpeg"/></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7.jpeg"/></Relationships>
</file>

<file path=ppt/slides/_rels/slide16.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hyperlink" Target="https://github.com/sarveshwaran777/Start-up-_blueprints_generator" TargetMode="External"/><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Agentic AI with IBM Granite and IBM Bob”</a:t>
            </a:r>
            <a:endParaRPr lang="en-IN"/>
          </a:p>
        </p:txBody>
      </p:sp>
    </p:spTree>
    <p:extLst>
      <p:ext uri="{BB962C8B-B14F-4D97-AF65-F5344CB8AC3E}">
        <p14:creationId xmlns:p14="http://schemas.microsoft.com/office/powerpoint/2010/main" val="38285595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1448503807"/>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r>
                        <a:rPr lang="en-US" dirty="0"/>
                        <a:t>SARVESHWARAN 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a:t>sarvesh729.07@gmail.com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a:t>6381880565</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a:t>
            </a:r>
            <a:r>
              <a:rPr lang="en-US" sz="2400" dirty="0"/>
              <a:t>Startup &amp; Entrepreneurship </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70131"/>
            <a:ext cx="9581177" cy="461665"/>
          </a:xfrm>
          <a:prstGeom prst="rect">
            <a:avLst/>
          </a:prstGeom>
          <a:noFill/>
        </p:spPr>
        <p:txBody>
          <a:bodyPr wrap="square" rtlCol="0">
            <a:spAutoFit/>
          </a:bodyPr>
          <a:lstStyle/>
          <a:p>
            <a:r>
              <a:rPr lang="en-US" sz="2400" b="1" dirty="0"/>
              <a:t>Project Tile – </a:t>
            </a:r>
            <a:r>
              <a:rPr lang="en-US" sz="2400" dirty="0"/>
              <a:t>Startup Blueprint Generator Agent</a:t>
            </a:r>
            <a:endParaRPr lang="en-IN" sz="2400" b="1" dirty="0">
              <a:highlight>
                <a:srgbClr val="FFFF00"/>
              </a:highlight>
            </a:endParaRPr>
          </a:p>
        </p:txBody>
      </p:sp>
      <p:pic>
        <p:nvPicPr>
          <p:cNvPr id="5" name="Picture 4">
            <a:extLst>
              <a:ext uri="{FF2B5EF4-FFF2-40B4-BE49-F238E27FC236}">
                <a16:creationId xmlns:a16="http://schemas.microsoft.com/office/drawing/2014/main" id="{3E879195-87A4-1002-73AB-393EA43A1432}"/>
              </a:ext>
            </a:extLst>
          </p:cNvPr>
          <p:cNvPicPr>
            <a:picLocks noChangeAspect="1"/>
          </p:cNvPicPr>
          <p:nvPr/>
        </p:nvPicPr>
        <p:blipFill>
          <a:blip r:embed="rId3"/>
          <a:stretch>
            <a:fillRect/>
          </a:stretch>
        </p:blipFill>
        <p:spPr>
          <a:xfrm>
            <a:off x="4064385" y="3679095"/>
            <a:ext cx="762499" cy="1009290"/>
          </a:xfrm>
          <a:prstGeom prst="rect">
            <a:avLst/>
          </a:prstGeom>
        </p:spPr>
      </p:pic>
    </p:spTree>
    <p:extLst>
      <p:ext uri="{BB962C8B-B14F-4D97-AF65-F5344CB8AC3E}">
        <p14:creationId xmlns:p14="http://schemas.microsoft.com/office/powerpoint/2010/main" val="9523178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39"/>
            <a:ext cx="10993076" cy="5847755"/>
          </a:xfrm>
          <a:prstGeom prst="rect">
            <a:avLst/>
          </a:prstGeom>
          <a:noFill/>
        </p:spPr>
        <p:txBody>
          <a:bodyPr wrap="square" rtlCol="0">
            <a:spAutoFit/>
          </a:bodyPr>
          <a:lstStyle/>
          <a:p>
            <a:r>
              <a:rPr lang="en-US" sz="2000" b="1" dirty="0"/>
              <a:t>Problem Statement – Startup Blueprint Generator Agent</a:t>
            </a:r>
          </a:p>
          <a:p>
            <a:r>
              <a:rPr lang="en-US" sz="2000" b="1" dirty="0"/>
              <a:t>The Challenge</a:t>
            </a:r>
          </a:p>
          <a:p>
            <a:r>
              <a:rPr lang="en-US" sz="2000" dirty="0"/>
              <a:t>Aspiring entrepreneurs often have good startup ideas but struggle to turn them into proper business plans. Information about the market, competitors, funding, and government schemes is also scattered across different sources.</a:t>
            </a:r>
          </a:p>
          <a:p>
            <a:r>
              <a:rPr lang="en-US" sz="2000" b="1" dirty="0"/>
              <a:t>The Objective</a:t>
            </a:r>
          </a:p>
          <a:p>
            <a:r>
              <a:rPr lang="en-US" sz="2000" dirty="0"/>
              <a:t>To develop an AI-powered agent that converts a startup idea into a </a:t>
            </a:r>
            <a:r>
              <a:rPr lang="en-US" sz="2000" b="1" dirty="0"/>
              <a:t>clear and actionable business blueprint</a:t>
            </a:r>
            <a:r>
              <a:rPr lang="en-US" sz="2000" dirty="0"/>
              <a:t>.</a:t>
            </a:r>
          </a:p>
          <a:p>
            <a:r>
              <a:rPr lang="en-US" sz="2000" b="1" dirty="0"/>
              <a:t>The Solution</a:t>
            </a:r>
          </a:p>
          <a:p>
            <a:pPr>
              <a:buFont typeface="Arial" panose="020B0604020202020204" pitchFamily="34" charset="0"/>
              <a:buChar char="•"/>
            </a:pPr>
            <a:r>
              <a:rPr lang="en-US" sz="2000" b="1" dirty="0"/>
              <a:t> Startup Analysis</a:t>
            </a:r>
            <a:r>
              <a:rPr lang="en-US" sz="2000" dirty="0"/>
              <a:t> – Understand the idea, problem, and target customers. </a:t>
            </a:r>
          </a:p>
          <a:p>
            <a:pPr>
              <a:buFont typeface="Arial" panose="020B0604020202020204" pitchFamily="34" charset="0"/>
              <a:buChar char="•"/>
            </a:pPr>
            <a:r>
              <a:rPr lang="en-US" sz="2000" b="1" dirty="0"/>
              <a:t> Market Research</a:t>
            </a:r>
            <a:r>
              <a:rPr lang="en-US" sz="2000" dirty="0"/>
              <a:t> – Identify market opportunities and trends. </a:t>
            </a:r>
          </a:p>
          <a:p>
            <a:pPr>
              <a:buFont typeface="Arial" panose="020B0604020202020204" pitchFamily="34" charset="0"/>
              <a:buChar char="•"/>
            </a:pPr>
            <a:r>
              <a:rPr lang="en-US" sz="2000" b="1" dirty="0"/>
              <a:t> Competitor Analysis</a:t>
            </a:r>
            <a:r>
              <a:rPr lang="en-US" sz="2000" dirty="0"/>
              <a:t> – Find and compare competitors. </a:t>
            </a:r>
          </a:p>
          <a:p>
            <a:pPr>
              <a:buFont typeface="Arial" panose="020B0604020202020204" pitchFamily="34" charset="0"/>
              <a:buChar char="•"/>
            </a:pPr>
            <a:r>
              <a:rPr lang="en-US" sz="2000" b="1" dirty="0"/>
              <a:t> Business Model</a:t>
            </a:r>
            <a:r>
              <a:rPr lang="en-US" sz="2000" dirty="0"/>
              <a:t> – Create a Business Model Canvas. </a:t>
            </a:r>
          </a:p>
          <a:p>
            <a:pPr>
              <a:buFont typeface="Arial" panose="020B0604020202020204" pitchFamily="34" charset="0"/>
              <a:buChar char="•"/>
            </a:pPr>
            <a:r>
              <a:rPr lang="en-US" sz="2000" b="1" dirty="0"/>
              <a:t> Budget &amp; Revenue</a:t>
            </a:r>
            <a:r>
              <a:rPr lang="en-US" sz="2000" dirty="0"/>
              <a:t> – Suggest revenue models and estimated costs. </a:t>
            </a:r>
          </a:p>
          <a:p>
            <a:pPr>
              <a:buFont typeface="Arial" panose="020B0604020202020204" pitchFamily="34" charset="0"/>
              <a:buChar char="•"/>
            </a:pPr>
            <a:r>
              <a:rPr lang="en-US" sz="2000" b="1" dirty="0"/>
              <a:t> Marketing Strategy</a:t>
            </a:r>
            <a:r>
              <a:rPr lang="en-US" sz="2000" dirty="0"/>
              <a:t> – Create a simple launch strategy. </a:t>
            </a:r>
          </a:p>
          <a:p>
            <a:pPr>
              <a:buFont typeface="Arial" panose="020B0604020202020204" pitchFamily="34" charset="0"/>
              <a:buChar char="•"/>
            </a:pPr>
            <a:r>
              <a:rPr lang="en-US" sz="2000" b="1" dirty="0"/>
              <a:t> Funding &amp; Schemes</a:t>
            </a:r>
            <a:r>
              <a:rPr lang="en-US" sz="2000" dirty="0"/>
              <a:t> – Find relevant funding and government schemes. </a:t>
            </a:r>
          </a:p>
          <a:p>
            <a:pPr>
              <a:buFont typeface="Arial" panose="020B0604020202020204" pitchFamily="34" charset="0"/>
              <a:buChar char="•"/>
            </a:pPr>
            <a:r>
              <a:rPr lang="en-US" sz="2000" b="1" dirty="0"/>
              <a:t> Final Blueprint</a:t>
            </a:r>
            <a:r>
              <a:rPr lang="en-US" sz="2000" dirty="0"/>
              <a:t> – Generate a complete startup plan.</a:t>
            </a:r>
          </a:p>
          <a:p>
            <a:pPr fontAlgn="base"/>
            <a:endParaRPr lang="en-US" sz="2000" dirty="0"/>
          </a:p>
          <a:p>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dirty="0"/>
              <a:t>Problem Statement -</a:t>
            </a:r>
            <a:endParaRPr lang="en-IN" sz="2400" b="1" dirty="0"/>
          </a:p>
        </p:txBody>
      </p:sp>
    </p:spTree>
    <p:extLst>
      <p:ext uri="{BB962C8B-B14F-4D97-AF65-F5344CB8AC3E}">
        <p14:creationId xmlns:p14="http://schemas.microsoft.com/office/powerpoint/2010/main" val="2616533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864704" y="1321903"/>
            <a:ext cx="10099747" cy="4708981"/>
          </a:xfrm>
          <a:prstGeom prst="rect">
            <a:avLst/>
          </a:prstGeom>
          <a:noFill/>
        </p:spPr>
        <p:txBody>
          <a:bodyPr wrap="square" rtlCol="0">
            <a:spAutoFit/>
          </a:bodyPr>
          <a:lstStyle/>
          <a:p>
            <a:r>
              <a:rPr lang="en-US" sz="2000" dirty="0"/>
              <a:t>The solution uses </a:t>
            </a:r>
            <a:r>
              <a:rPr lang="en-US" sz="2000" b="1" dirty="0"/>
              <a:t>IBM Granite, IBM Cloud Lite, Agentic AI, and RAG</a:t>
            </a:r>
            <a:r>
              <a:rPr lang="en-US" sz="2000" dirty="0"/>
              <a:t> to convert startup ideas into actionable business plans.</a:t>
            </a:r>
          </a:p>
          <a:p>
            <a:endParaRPr lang="en-US" sz="2000" dirty="0"/>
          </a:p>
          <a:p>
            <a:r>
              <a:rPr lang="en-US" sz="2000" b="1" dirty="0"/>
              <a:t>Specialized AI Agents:</a:t>
            </a:r>
          </a:p>
          <a:p>
            <a:endParaRPr lang="en-US" sz="2000" dirty="0"/>
          </a:p>
          <a:p>
            <a:pPr>
              <a:buFont typeface="Arial" panose="020B0604020202020204" pitchFamily="34" charset="0"/>
              <a:buChar char="•"/>
            </a:pPr>
            <a:r>
              <a:rPr lang="en-US" sz="2000" b="1" dirty="0"/>
              <a:t> Startup Analysis</a:t>
            </a:r>
            <a:r>
              <a:rPr lang="en-US" sz="2000" dirty="0"/>
              <a:t> – Identifies problem, solution, customers, and USP. </a:t>
            </a:r>
          </a:p>
          <a:p>
            <a:pPr>
              <a:buFont typeface="Arial" panose="020B0604020202020204" pitchFamily="34" charset="0"/>
              <a:buChar char="•"/>
            </a:pPr>
            <a:r>
              <a:rPr lang="en-US" sz="2000" b="1" dirty="0"/>
              <a:t> Market Research</a:t>
            </a:r>
            <a:r>
              <a:rPr lang="en-US" sz="2000" dirty="0"/>
              <a:t> – Analyzes market opportunities and trends. </a:t>
            </a:r>
          </a:p>
          <a:p>
            <a:pPr>
              <a:buFont typeface="Arial" panose="020B0604020202020204" pitchFamily="34" charset="0"/>
              <a:buChar char="•"/>
            </a:pPr>
            <a:r>
              <a:rPr lang="en-US" sz="2000" b="1" dirty="0"/>
              <a:t> Competitor Analysis</a:t>
            </a:r>
            <a:r>
              <a:rPr lang="en-US" sz="2000" dirty="0"/>
              <a:t> – Compares competitors and their strengths. </a:t>
            </a:r>
          </a:p>
          <a:p>
            <a:pPr>
              <a:buFont typeface="Arial" panose="020B0604020202020204" pitchFamily="34" charset="0"/>
              <a:buChar char="•"/>
            </a:pPr>
            <a:r>
              <a:rPr lang="en-US" sz="2000" b="1" dirty="0"/>
              <a:t> Business Model</a:t>
            </a:r>
            <a:r>
              <a:rPr lang="en-US" sz="2000" dirty="0"/>
              <a:t> – Generates the Business Model Canvas. </a:t>
            </a:r>
          </a:p>
          <a:p>
            <a:pPr>
              <a:buFont typeface="Arial" panose="020B0604020202020204" pitchFamily="34" charset="0"/>
              <a:buChar char="•"/>
            </a:pPr>
            <a:r>
              <a:rPr lang="en-US" sz="2000" b="1" dirty="0"/>
              <a:t> Funding Agent</a:t>
            </a:r>
            <a:r>
              <a:rPr lang="en-US" sz="2000" dirty="0"/>
              <a:t> – Finds relevant funding and government schemes. </a:t>
            </a:r>
          </a:p>
          <a:p>
            <a:r>
              <a:rPr lang="en-US" sz="2000" dirty="0"/>
              <a:t>A </a:t>
            </a:r>
            <a:r>
              <a:rPr lang="en-US" sz="2000" b="1" dirty="0"/>
              <a:t>user-friendly dashboard</a:t>
            </a:r>
            <a:r>
              <a:rPr lang="en-US" sz="2000" dirty="0"/>
              <a:t> presents the market analysis, competitors, BMC, budget, GTM strategy, and funding information.</a:t>
            </a:r>
          </a:p>
          <a:p>
            <a:endParaRPr lang="en-US" sz="2000" dirty="0"/>
          </a:p>
          <a:p>
            <a:r>
              <a:rPr lang="en-US" sz="2000" b="1" dirty="0"/>
              <a:t>IBM Granite</a:t>
            </a:r>
            <a:r>
              <a:rPr lang="en-US" sz="2000" dirty="0"/>
              <a:t> handles AI reasoning and generation, while </a:t>
            </a:r>
            <a:r>
              <a:rPr lang="en-US" sz="2000" b="1" dirty="0"/>
              <a:t>RAG</a:t>
            </a:r>
            <a:r>
              <a:rPr lang="en-US" sz="2000" dirty="0"/>
              <a:t> provides trusted and relevant information.</a:t>
            </a:r>
          </a:p>
        </p:txBody>
      </p:sp>
      <p:sp>
        <p:nvSpPr>
          <p:cNvPr id="3" name="TextBox 2">
            <a:extLst>
              <a:ext uri="{FF2B5EF4-FFF2-40B4-BE49-F238E27FC236}">
                <a16:creationId xmlns:a16="http://schemas.microsoft.com/office/drawing/2014/main" id="{527F30CC-07EF-8FCC-DA00-C9212F5DAECE}"/>
              </a:ext>
            </a:extLst>
          </p:cNvPr>
          <p:cNvSpPr txBox="1"/>
          <p:nvPr/>
        </p:nvSpPr>
        <p:spPr>
          <a:xfrm>
            <a:off x="864704" y="387626"/>
            <a:ext cx="7214616" cy="461665"/>
          </a:xfrm>
          <a:prstGeom prst="rect">
            <a:avLst/>
          </a:prstGeom>
          <a:noFill/>
        </p:spPr>
        <p:txBody>
          <a:bodyPr wrap="square" rtlCol="0">
            <a:spAutoFit/>
          </a:bodyPr>
          <a:lstStyle/>
          <a:p>
            <a:r>
              <a:rPr lang="en-US" sz="2400" b="1" dirty="0"/>
              <a:t>Proposed Solution -</a:t>
            </a:r>
            <a:endParaRPr lang="en-IN" sz="2400" b="1" dirty="0"/>
          </a:p>
        </p:txBody>
      </p:sp>
    </p:spTree>
    <p:extLst>
      <p:ext uri="{BB962C8B-B14F-4D97-AF65-F5344CB8AC3E}">
        <p14:creationId xmlns:p14="http://schemas.microsoft.com/office/powerpoint/2010/main" val="6194599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dirty="0"/>
              <a:t>Technology Used</a:t>
            </a:r>
            <a:endParaRPr lang="en-IN" sz="2400" b="1" dirty="0"/>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4308872"/>
          </a:xfrm>
          <a:prstGeom prst="rect">
            <a:avLst/>
          </a:prstGeom>
          <a:noFill/>
        </p:spPr>
        <p:txBody>
          <a:bodyPr wrap="square" rtlCol="0">
            <a:spAutoFit/>
          </a:bodyPr>
          <a:lstStyle/>
          <a:p>
            <a:pPr marL="285750" indent="-285750">
              <a:buFont typeface="Arial" panose="020B0604020202020204" pitchFamily="34" charset="0"/>
              <a:buChar char="•"/>
            </a:pPr>
            <a:r>
              <a:rPr lang="en-US" sz="2000" b="1" dirty="0"/>
              <a:t>IBM Bob</a:t>
            </a:r>
            <a:r>
              <a:rPr lang="en-US" sz="2000" dirty="0"/>
              <a:t> – Used to build, test, debug, and manage the application.</a:t>
            </a:r>
          </a:p>
          <a:p>
            <a:endParaRPr lang="en-US" sz="2000" dirty="0"/>
          </a:p>
          <a:p>
            <a:pPr marL="285750" indent="-285750">
              <a:buFont typeface="Arial" panose="020B0604020202020204" pitchFamily="34" charset="0"/>
              <a:buChar char="•"/>
            </a:pPr>
            <a:r>
              <a:rPr lang="en-US" sz="2000" b="1" dirty="0"/>
              <a:t>IBM Granite</a:t>
            </a:r>
            <a:r>
              <a:rPr lang="en-US" sz="2000" dirty="0"/>
              <a:t> – Used for AI reasoning, startup idea analysis, and blueprint generation.</a:t>
            </a:r>
          </a:p>
          <a:p>
            <a:endParaRPr lang="en-US" sz="2000" dirty="0"/>
          </a:p>
          <a:p>
            <a:pPr marL="285750" indent="-285750">
              <a:buFont typeface="Arial" panose="020B0604020202020204" pitchFamily="34" charset="0"/>
              <a:buChar char="•"/>
            </a:pPr>
            <a:r>
              <a:rPr lang="en-US" sz="2000" b="1" dirty="0"/>
              <a:t>IBM Cloud Lite</a:t>
            </a:r>
            <a:r>
              <a:rPr lang="en-US" sz="2000" dirty="0"/>
              <a:t> – Provides the required cloud environment and IBM services.</a:t>
            </a:r>
          </a:p>
          <a:p>
            <a:endParaRPr lang="en-US" sz="2000" dirty="0"/>
          </a:p>
          <a:p>
            <a:pPr marL="285750" indent="-285750">
              <a:buFont typeface="Arial" panose="020B0604020202020204" pitchFamily="34" charset="0"/>
              <a:buChar char="•"/>
            </a:pPr>
            <a:r>
              <a:rPr lang="en-US" sz="2000" b="1" dirty="0"/>
              <a:t>RAG</a:t>
            </a:r>
            <a:r>
              <a:rPr lang="en-US" sz="2000" dirty="0"/>
              <a:t> – Retrieves trusted information on markets, competitors, funding, government schemes, and legal requirements.</a:t>
            </a:r>
          </a:p>
          <a:p>
            <a:endParaRPr lang="en-US" sz="2000" dirty="0"/>
          </a:p>
          <a:p>
            <a:pPr marL="285750" indent="-285750">
              <a:buFont typeface="Arial" panose="020B0604020202020204" pitchFamily="34" charset="0"/>
              <a:buChar char="•"/>
            </a:pPr>
            <a:r>
              <a:rPr lang="en-US" sz="2000" b="1" dirty="0"/>
              <a:t>AI Agent Architecture</a:t>
            </a:r>
            <a:r>
              <a:rPr lang="en-US" sz="2000" dirty="0"/>
              <a:t> – Uses specialized agents for market research, competitors, business model, funding, and legal analysis.</a:t>
            </a:r>
          </a:p>
          <a:p>
            <a:endParaRPr lang="en-US" sz="2000" dirty="0"/>
          </a:p>
          <a:p>
            <a:pPr marL="285750" indent="-285750">
              <a:buFont typeface="Arial" panose="020B0604020202020204" pitchFamily="34" charset="0"/>
              <a:buChar char="•"/>
            </a:pPr>
            <a:r>
              <a:rPr lang="en-US" sz="2000" b="1" dirty="0"/>
              <a:t>Database</a:t>
            </a:r>
            <a:r>
              <a:rPr lang="en-US" sz="2000" dirty="0"/>
              <a:t> – Stores user profiles, startup ideas, blueprints, and source information.</a:t>
            </a:r>
          </a:p>
          <a:p>
            <a:endParaRPr lang="en-IN" dirty="0"/>
          </a:p>
        </p:txBody>
      </p:sp>
    </p:spTree>
    <p:extLst>
      <p:ext uri="{BB962C8B-B14F-4D97-AF65-F5344CB8AC3E}">
        <p14:creationId xmlns:p14="http://schemas.microsoft.com/office/powerpoint/2010/main" val="4436039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a:sym typeface="Times New Roman"/>
              </a:rPr>
              <a:t>Required Files created using IBM bob -</a:t>
            </a:r>
            <a:endParaRPr sz="2400" b="1">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AF73990E-4040-BF9A-4934-D457E7FB0801}"/>
              </a:ext>
            </a:extLst>
          </p:cNvPr>
          <p:cNvPicPr>
            <a:picLocks noChangeAspect="1"/>
          </p:cNvPicPr>
          <p:nvPr/>
        </p:nvPicPr>
        <p:blipFill>
          <a:blip r:embed="rId3"/>
          <a:stretch>
            <a:fillRect/>
          </a:stretch>
        </p:blipFill>
        <p:spPr>
          <a:xfrm>
            <a:off x="695145" y="738938"/>
            <a:ext cx="10959265" cy="6157737"/>
          </a:xfrm>
          <a:prstGeom prst="rect">
            <a:avLst/>
          </a:prstGeom>
        </p:spPr>
      </p:pic>
    </p:spTree>
    <p:extLst>
      <p:ext uri="{BB962C8B-B14F-4D97-AF65-F5344CB8AC3E}">
        <p14:creationId xmlns:p14="http://schemas.microsoft.com/office/powerpoint/2010/main" val="31149636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3500" b="1" i="0" u="none" strike="noStrike" cap="none">
                <a:solidFill>
                  <a:srgbClr val="051D3A"/>
                </a:solidFill>
                <a:latin typeface="Times New Roman"/>
                <a:ea typeface="Times New Roman"/>
                <a:cs typeface="Times New Roman"/>
                <a:sym typeface="Times New Roman"/>
              </a:rPr>
              <a:t> </a:t>
            </a:r>
            <a:r>
              <a:rPr lang="en-US" sz="2400" b="1" i="0" u="none" strike="noStrike" cap="none">
                <a:solidFill>
                  <a:srgbClr val="051D3A"/>
                </a:solidFill>
                <a:latin typeface="Times New Roman"/>
                <a:ea typeface="Times New Roman"/>
                <a:cs typeface="Times New Roman"/>
                <a:sym typeface="Times New Roman"/>
              </a:rPr>
              <a:t>IBM Bob Screenshots:</a:t>
            </a:r>
            <a:endParaRPr sz="2400" b="1">
              <a:sym typeface="Times New Roman"/>
            </a:endParaRPr>
          </a:p>
        </p:txBody>
      </p:sp>
      <p:pic>
        <p:nvPicPr>
          <p:cNvPr id="5" name="Picture 4">
            <a:extLst>
              <a:ext uri="{FF2B5EF4-FFF2-40B4-BE49-F238E27FC236}">
                <a16:creationId xmlns:a16="http://schemas.microsoft.com/office/drawing/2014/main" id="{141D1D20-5379-04D6-A8C9-AA36BCC63B75}"/>
              </a:ext>
            </a:extLst>
          </p:cNvPr>
          <p:cNvPicPr>
            <a:picLocks noChangeAspect="1"/>
          </p:cNvPicPr>
          <p:nvPr/>
        </p:nvPicPr>
        <p:blipFill>
          <a:blip r:embed="rId3"/>
          <a:stretch>
            <a:fillRect/>
          </a:stretch>
        </p:blipFill>
        <p:spPr>
          <a:xfrm>
            <a:off x="1560443" y="1196339"/>
            <a:ext cx="9909314" cy="5450123"/>
          </a:xfrm>
          <a:prstGeom prst="rect">
            <a:avLst/>
          </a:prstGeom>
        </p:spPr>
      </p:pic>
    </p:spTree>
    <p:extLst>
      <p:ext uri="{BB962C8B-B14F-4D97-AF65-F5344CB8AC3E}">
        <p14:creationId xmlns:p14="http://schemas.microsoft.com/office/powerpoint/2010/main" val="13165455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33A290A-6680-D490-E6D4-9336496B1C34}"/>
              </a:ext>
            </a:extLst>
          </p:cNvPr>
          <p:cNvPicPr>
            <a:picLocks noChangeAspect="1"/>
          </p:cNvPicPr>
          <p:nvPr/>
        </p:nvPicPr>
        <p:blipFill>
          <a:blip r:embed="rId2"/>
          <a:stretch>
            <a:fillRect/>
          </a:stretch>
        </p:blipFill>
        <p:spPr>
          <a:xfrm>
            <a:off x="157335" y="400546"/>
            <a:ext cx="11145396" cy="5716790"/>
          </a:xfrm>
          <a:prstGeom prst="rect">
            <a:avLst/>
          </a:prstGeom>
        </p:spPr>
      </p:pic>
      <p:pic>
        <p:nvPicPr>
          <p:cNvPr id="3" name="Picture 2">
            <a:extLst>
              <a:ext uri="{FF2B5EF4-FFF2-40B4-BE49-F238E27FC236}">
                <a16:creationId xmlns:a16="http://schemas.microsoft.com/office/drawing/2014/main" id="{854AB4BD-BEE4-7021-85FD-B1C1B258D7D3}"/>
              </a:ext>
            </a:extLst>
          </p:cNvPr>
          <p:cNvPicPr>
            <a:picLocks noChangeAspect="1"/>
          </p:cNvPicPr>
          <p:nvPr/>
        </p:nvPicPr>
        <p:blipFill>
          <a:blip r:embed="rId3"/>
          <a:stretch>
            <a:fillRect/>
          </a:stretch>
        </p:blipFill>
        <p:spPr>
          <a:xfrm>
            <a:off x="160717" y="186325"/>
            <a:ext cx="11873948" cy="6671675"/>
          </a:xfrm>
          <a:prstGeom prst="rect">
            <a:avLst/>
          </a:prstGeom>
        </p:spPr>
      </p:pic>
    </p:spTree>
    <p:extLst>
      <p:ext uri="{BB962C8B-B14F-4D97-AF65-F5344CB8AC3E}">
        <p14:creationId xmlns:p14="http://schemas.microsoft.com/office/powerpoint/2010/main" val="2323718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err="1">
                <a:sym typeface="Times New Roman"/>
              </a:rPr>
              <a:t>Langflow</a:t>
            </a:r>
            <a:r>
              <a:rPr lang="en-US" sz="3500" b="1" i="0" u="none" strike="noStrike" cap="none">
                <a:solidFill>
                  <a:srgbClr val="051D3A"/>
                </a:solidFill>
                <a:latin typeface="Times New Roman"/>
                <a:ea typeface="Times New Roman"/>
                <a:cs typeface="Times New Roman"/>
                <a:sym typeface="Times New Roman"/>
              </a:rPr>
              <a:t> </a:t>
            </a:r>
            <a:r>
              <a:rPr lang="en-US" sz="2400" b="1">
                <a:sym typeface="Times New Roman"/>
              </a:rPr>
              <a:t>workflow -</a:t>
            </a:r>
            <a:endParaRPr sz="2400" b="1">
              <a:sym typeface="Times New Roman"/>
            </a:endParaRPr>
          </a:p>
        </p:txBody>
      </p:sp>
      <p:pic>
        <p:nvPicPr>
          <p:cNvPr id="5" name="Picture 4">
            <a:extLst>
              <a:ext uri="{FF2B5EF4-FFF2-40B4-BE49-F238E27FC236}">
                <a16:creationId xmlns:a16="http://schemas.microsoft.com/office/drawing/2014/main" id="{772163C6-EF69-7C81-5A21-01ADB1F17D50}"/>
              </a:ext>
            </a:extLst>
          </p:cNvPr>
          <p:cNvPicPr>
            <a:picLocks noChangeAspect="1"/>
          </p:cNvPicPr>
          <p:nvPr/>
        </p:nvPicPr>
        <p:blipFill>
          <a:blip r:embed="rId3"/>
          <a:stretch>
            <a:fillRect/>
          </a:stretch>
        </p:blipFill>
        <p:spPr>
          <a:xfrm>
            <a:off x="0" y="0"/>
            <a:ext cx="12192000" cy="6858000"/>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a:solidFill>
                  <a:schemeClr val="dk1"/>
                </a:solidFill>
                <a:latin typeface="Calibri"/>
                <a:ea typeface="Calibri"/>
                <a:cs typeface="Calibri"/>
                <a:sym typeface="Calibri"/>
              </a:rPr>
              <a:t>Architecture blueprint for IBM bob:</a:t>
            </a:r>
            <a:endParaRPr lang="en-US" sz="2400"/>
          </a:p>
        </p:txBody>
      </p:sp>
      <p:pic>
        <p:nvPicPr>
          <p:cNvPr id="4" name="Picture 3">
            <a:extLst>
              <a:ext uri="{FF2B5EF4-FFF2-40B4-BE49-F238E27FC236}">
                <a16:creationId xmlns:a16="http://schemas.microsoft.com/office/drawing/2014/main" id="{5B8295BF-F405-86BC-4FCC-C8BF5E4AAAF1}"/>
              </a:ext>
            </a:extLst>
          </p:cNvPr>
          <p:cNvPicPr>
            <a:picLocks noChangeAspect="1"/>
          </p:cNvPicPr>
          <p:nvPr/>
        </p:nvPicPr>
        <p:blipFill>
          <a:blip r:embed="rId3"/>
          <a:stretch>
            <a:fillRect/>
          </a:stretch>
        </p:blipFill>
        <p:spPr>
          <a:xfrm>
            <a:off x="983379" y="780005"/>
            <a:ext cx="10225241" cy="5754756"/>
          </a:xfrm>
          <a:prstGeom prst="rect">
            <a:avLst/>
          </a:prstGeom>
        </p:spPr>
      </p:pic>
    </p:spTree>
    <p:extLst>
      <p:ext uri="{BB962C8B-B14F-4D97-AF65-F5344CB8AC3E}">
        <p14:creationId xmlns:p14="http://schemas.microsoft.com/office/powerpoint/2010/main" val="4451951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a:t>Role of Agentic AI in the solution </a:t>
            </a:r>
            <a:endParaRPr lang="en-IN" sz="3200" b="1"/>
          </a:p>
        </p:txBody>
      </p:sp>
      <p:sp>
        <p:nvSpPr>
          <p:cNvPr id="3" name="TextBox 2">
            <a:extLst>
              <a:ext uri="{FF2B5EF4-FFF2-40B4-BE49-F238E27FC236}">
                <a16:creationId xmlns:a16="http://schemas.microsoft.com/office/drawing/2014/main" id="{322462E8-EB3A-DA7D-44CB-4E757803A755}"/>
              </a:ext>
            </a:extLst>
          </p:cNvPr>
          <p:cNvSpPr txBox="1"/>
          <p:nvPr/>
        </p:nvSpPr>
        <p:spPr>
          <a:xfrm>
            <a:off x="582035" y="1087980"/>
            <a:ext cx="7406640" cy="5940088"/>
          </a:xfrm>
          <a:prstGeom prst="rect">
            <a:avLst/>
          </a:prstGeom>
          <a:noFill/>
        </p:spPr>
        <p:txBody>
          <a:bodyPr wrap="square" rtlCol="0">
            <a:spAutoFit/>
          </a:bodyPr>
          <a:lstStyle/>
          <a:p>
            <a:r>
              <a:rPr lang="en-US" sz="2000" b="1" dirty="0"/>
              <a:t>Agentic AI</a:t>
            </a:r>
            <a:r>
              <a:rPr lang="en-US" sz="2000" dirty="0"/>
              <a:t> enables the Startup Blueprint Generator to work as an intelligent system rather than a simple chatbot. It coordinates specialized agents to analyze different aspects of a startup idea.</a:t>
            </a:r>
          </a:p>
          <a:p>
            <a:pPr marL="285750" indent="-285750">
              <a:buFont typeface="Wingdings" panose="05000000000000000000" pitchFamily="2" charset="2"/>
              <a:buChar char="v"/>
            </a:pPr>
            <a:r>
              <a:rPr lang="en-US" sz="2000" b="1" dirty="0"/>
              <a:t>Startup Analysis Agent</a:t>
            </a:r>
            <a:r>
              <a:rPr lang="en-US" sz="2000" dirty="0"/>
              <a:t> – Understands the idea, problem, solution, customers, and USP. </a:t>
            </a:r>
          </a:p>
          <a:p>
            <a:pPr marL="285750" indent="-285750">
              <a:buFont typeface="Wingdings" panose="05000000000000000000" pitchFamily="2" charset="2"/>
              <a:buChar char="v"/>
            </a:pPr>
            <a:r>
              <a:rPr lang="en-US" sz="2000" b="1" dirty="0"/>
              <a:t>Market Research Agent</a:t>
            </a:r>
            <a:r>
              <a:rPr lang="en-US" sz="2000" dirty="0"/>
              <a:t> – Analyzes market opportunities and trends. </a:t>
            </a:r>
          </a:p>
          <a:p>
            <a:pPr marL="285750" indent="-285750">
              <a:buFont typeface="Wingdings" panose="05000000000000000000" pitchFamily="2" charset="2"/>
              <a:buChar char="v"/>
            </a:pPr>
            <a:r>
              <a:rPr lang="en-US" sz="2000" b="1" dirty="0"/>
              <a:t>Competitor Analysis Agent</a:t>
            </a:r>
            <a:r>
              <a:rPr lang="en-US" sz="2000" dirty="0"/>
              <a:t> – Identifies and compares competitors. </a:t>
            </a:r>
          </a:p>
          <a:p>
            <a:pPr marL="285750" indent="-285750">
              <a:buFont typeface="Wingdings" panose="05000000000000000000" pitchFamily="2" charset="2"/>
              <a:buChar char="v"/>
            </a:pPr>
            <a:r>
              <a:rPr lang="en-US" sz="2000" b="1" dirty="0"/>
              <a:t>Business Model Agent</a:t>
            </a:r>
            <a:r>
              <a:rPr lang="en-US" sz="2000" dirty="0"/>
              <a:t> – Creates the Business Model Canvas and revenue model. </a:t>
            </a:r>
          </a:p>
          <a:p>
            <a:pPr marL="285750" indent="-285750">
              <a:buFont typeface="Wingdings" panose="05000000000000000000" pitchFamily="2" charset="2"/>
              <a:buChar char="v"/>
            </a:pPr>
            <a:r>
              <a:rPr lang="en-US" sz="2000" b="1" dirty="0"/>
              <a:t>Funding Agent</a:t>
            </a:r>
            <a:r>
              <a:rPr lang="en-US" sz="2000" dirty="0"/>
              <a:t> – Finds suitable funding opportunities and government schemes. </a:t>
            </a:r>
          </a:p>
          <a:p>
            <a:pPr marL="285750" indent="-285750">
              <a:buFont typeface="Wingdings" panose="05000000000000000000" pitchFamily="2" charset="2"/>
              <a:buChar char="v"/>
            </a:pPr>
            <a:r>
              <a:rPr lang="en-US" sz="2000" b="1" dirty="0"/>
              <a:t>Legal Agent</a:t>
            </a:r>
            <a:r>
              <a:rPr lang="en-US" sz="2000" dirty="0"/>
              <a:t> – Identifies relevant registration and compliance requirements. </a:t>
            </a:r>
          </a:p>
          <a:p>
            <a:r>
              <a:rPr lang="en-US" sz="2000" b="1" dirty="0"/>
              <a:t>Overall, Agentic AI makes the system automated, personalized, and action-oriented, helping users move from a startup idea to a practical business plan.</a:t>
            </a:r>
            <a:endParaRPr lang="en-US" sz="2000" dirty="0"/>
          </a:p>
          <a:p>
            <a:r>
              <a:rPr lang="en-US" sz="2000" dirty="0"/>
              <a:t>.</a:t>
            </a:r>
          </a:p>
        </p:txBody>
      </p:sp>
    </p:spTree>
    <p:extLst>
      <p:ext uri="{BB962C8B-B14F-4D97-AF65-F5344CB8AC3E}">
        <p14:creationId xmlns:p14="http://schemas.microsoft.com/office/powerpoint/2010/main" val="40006969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793192" y="3415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Token Usage </a:t>
            </a:r>
            <a:endParaRPr sz="2400" b="1">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5" name="TextBox 4">
            <a:extLst>
              <a:ext uri="{FF2B5EF4-FFF2-40B4-BE49-F238E27FC236}">
                <a16:creationId xmlns:a16="http://schemas.microsoft.com/office/drawing/2014/main" id="{1BD576A0-BF64-32B6-1E59-49AA2C59C5CE}"/>
              </a:ext>
            </a:extLst>
          </p:cNvPr>
          <p:cNvSpPr txBox="1"/>
          <p:nvPr/>
        </p:nvSpPr>
        <p:spPr>
          <a:xfrm>
            <a:off x="897392" y="1042133"/>
            <a:ext cx="437117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11,761 token are used</a:t>
            </a:r>
          </a:p>
        </p:txBody>
      </p:sp>
      <p:pic>
        <p:nvPicPr>
          <p:cNvPr id="12" name="Picture 11" descr="A screenshot of a computer&#10;&#10;AI-generated content may be incorrect.">
            <a:extLst>
              <a:ext uri="{FF2B5EF4-FFF2-40B4-BE49-F238E27FC236}">
                <a16:creationId xmlns:a16="http://schemas.microsoft.com/office/drawing/2014/main" id="{3E29AF1D-88C4-87E5-74DF-4E97121E06CE}"/>
              </a:ext>
            </a:extLst>
          </p:cNvPr>
          <p:cNvPicPr>
            <a:picLocks noChangeAspect="1"/>
          </p:cNvPicPr>
          <p:nvPr/>
        </p:nvPicPr>
        <p:blipFill>
          <a:blip r:embed="rId3"/>
          <a:stretch>
            <a:fillRect/>
          </a:stretch>
        </p:blipFill>
        <p:spPr>
          <a:xfrm>
            <a:off x="114240" y="2453592"/>
            <a:ext cx="5095875" cy="2857500"/>
          </a:xfrm>
          <a:prstGeom prst="rect">
            <a:avLst/>
          </a:prstGeom>
        </p:spPr>
      </p:pic>
      <p:sp>
        <p:nvSpPr>
          <p:cNvPr id="14" name="TextBox 13">
            <a:extLst>
              <a:ext uri="{FF2B5EF4-FFF2-40B4-BE49-F238E27FC236}">
                <a16:creationId xmlns:a16="http://schemas.microsoft.com/office/drawing/2014/main" id="{7B8E599E-5B1D-59CD-4F1D-CEF8D0CA327B}"/>
              </a:ext>
            </a:extLst>
          </p:cNvPr>
          <p:cNvSpPr txBox="1"/>
          <p:nvPr/>
        </p:nvSpPr>
        <p:spPr>
          <a:xfrm>
            <a:off x="1278639" y="1718067"/>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Before Prompt</a:t>
            </a:r>
          </a:p>
        </p:txBody>
      </p:sp>
      <p:sp>
        <p:nvSpPr>
          <p:cNvPr id="15" name="TextBox 14">
            <a:extLst>
              <a:ext uri="{FF2B5EF4-FFF2-40B4-BE49-F238E27FC236}">
                <a16:creationId xmlns:a16="http://schemas.microsoft.com/office/drawing/2014/main" id="{B22EA981-5113-2D05-C1A2-169306E1D47C}"/>
              </a:ext>
            </a:extLst>
          </p:cNvPr>
          <p:cNvSpPr txBox="1"/>
          <p:nvPr/>
        </p:nvSpPr>
        <p:spPr>
          <a:xfrm>
            <a:off x="7106828" y="1722919"/>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After the Prompt</a:t>
            </a:r>
          </a:p>
        </p:txBody>
      </p:sp>
      <p:pic>
        <p:nvPicPr>
          <p:cNvPr id="3" name="Picture 2">
            <a:extLst>
              <a:ext uri="{FF2B5EF4-FFF2-40B4-BE49-F238E27FC236}">
                <a16:creationId xmlns:a16="http://schemas.microsoft.com/office/drawing/2014/main" id="{EFAC89D5-3E28-4407-5A7B-F3E7FD0A4D8A}"/>
              </a:ext>
            </a:extLst>
          </p:cNvPr>
          <p:cNvPicPr>
            <a:picLocks noChangeAspect="1"/>
          </p:cNvPicPr>
          <p:nvPr/>
        </p:nvPicPr>
        <p:blipFill>
          <a:blip r:embed="rId4"/>
          <a:stretch>
            <a:fillRect/>
          </a:stretch>
        </p:blipFill>
        <p:spPr>
          <a:xfrm>
            <a:off x="29215" y="2237140"/>
            <a:ext cx="5766819" cy="3377079"/>
          </a:xfrm>
          <a:prstGeom prst="rect">
            <a:avLst/>
          </a:prstGeom>
        </p:spPr>
      </p:pic>
      <p:pic>
        <p:nvPicPr>
          <p:cNvPr id="6" name="Picture 5">
            <a:extLst>
              <a:ext uri="{FF2B5EF4-FFF2-40B4-BE49-F238E27FC236}">
                <a16:creationId xmlns:a16="http://schemas.microsoft.com/office/drawing/2014/main" id="{D8F8CE5D-32D3-E953-BB79-9B714E78415E}"/>
              </a:ext>
            </a:extLst>
          </p:cNvPr>
          <p:cNvPicPr>
            <a:picLocks noChangeAspect="1"/>
          </p:cNvPicPr>
          <p:nvPr/>
        </p:nvPicPr>
        <p:blipFill>
          <a:blip r:embed="rId5"/>
          <a:stretch>
            <a:fillRect/>
          </a:stretch>
        </p:blipFill>
        <p:spPr>
          <a:xfrm>
            <a:off x="6664824" y="2237140"/>
            <a:ext cx="4646438" cy="4039093"/>
          </a:xfrm>
          <a:prstGeom prst="rect">
            <a:avLst/>
          </a:prstGeom>
        </p:spPr>
      </p:pic>
    </p:spTree>
    <p:extLst>
      <p:ext uri="{BB962C8B-B14F-4D97-AF65-F5344CB8AC3E}">
        <p14:creationId xmlns:p14="http://schemas.microsoft.com/office/powerpoint/2010/main" val="8934170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1863F011-FD59-2782-3732-0E3263170F5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78DA0257-5105-834D-150D-50732C7248D1}"/>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827D77C8-2496-7668-B3B3-927FD4DB704D}"/>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46BDB3C0-B0E9-3C3A-A974-6BF43591F3FC}"/>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8CB1AEC3-7C17-0CCE-61FA-643373D6AE2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CCA977A3-5FA0-8FF5-E1D1-86C9ED676512}"/>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4" name="Picture 3">
            <a:extLst>
              <a:ext uri="{FF2B5EF4-FFF2-40B4-BE49-F238E27FC236}">
                <a16:creationId xmlns:a16="http://schemas.microsoft.com/office/drawing/2014/main" id="{E430EE8C-8F89-5938-483F-00452050511A}"/>
              </a:ext>
            </a:extLst>
          </p:cNvPr>
          <p:cNvPicPr>
            <a:picLocks noChangeAspect="1"/>
          </p:cNvPicPr>
          <p:nvPr/>
        </p:nvPicPr>
        <p:blipFill>
          <a:blip r:embed="rId3"/>
          <a:stretch>
            <a:fillRect/>
          </a:stretch>
        </p:blipFill>
        <p:spPr>
          <a:xfrm>
            <a:off x="409144" y="885593"/>
            <a:ext cx="11163874" cy="5715294"/>
          </a:xfrm>
          <a:prstGeom prst="rect">
            <a:avLst/>
          </a:prstGeom>
        </p:spPr>
      </p:pic>
      <p:pic>
        <p:nvPicPr>
          <p:cNvPr id="5" name="Picture 4">
            <a:extLst>
              <a:ext uri="{FF2B5EF4-FFF2-40B4-BE49-F238E27FC236}">
                <a16:creationId xmlns:a16="http://schemas.microsoft.com/office/drawing/2014/main" id="{61A7EBE9-7963-4AED-847E-C2F7A5DCFD94}"/>
              </a:ext>
            </a:extLst>
          </p:cNvPr>
          <p:cNvPicPr>
            <a:picLocks noChangeAspect="1"/>
          </p:cNvPicPr>
          <p:nvPr/>
        </p:nvPicPr>
        <p:blipFill>
          <a:blip r:embed="rId4"/>
          <a:stretch>
            <a:fillRect/>
          </a:stretch>
        </p:blipFill>
        <p:spPr>
          <a:xfrm>
            <a:off x="0" y="609600"/>
            <a:ext cx="12192000" cy="5638800"/>
          </a:xfrm>
          <a:prstGeom prst="rect">
            <a:avLst/>
          </a:prstGeom>
        </p:spPr>
      </p:pic>
    </p:spTree>
    <p:extLst>
      <p:ext uri="{BB962C8B-B14F-4D97-AF65-F5344CB8AC3E}">
        <p14:creationId xmlns:p14="http://schemas.microsoft.com/office/powerpoint/2010/main" val="14299618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A1254DC3-8448-76A3-8631-9484D98C80E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A5DD5E73-E4F8-AB1C-5A5A-D4EBAD6FD1B8}"/>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E6E4A7DC-3E1D-42C4-3256-8A3109D5036E}"/>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1EC4E285-5561-2096-3270-252023A42F4B}"/>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A8B1B6D-C213-0DFE-C434-B14C5F9945F5}"/>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692D13D-6B69-03D8-BA22-587B943A2572}"/>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5" name="Picture 4">
            <a:extLst>
              <a:ext uri="{FF2B5EF4-FFF2-40B4-BE49-F238E27FC236}">
                <a16:creationId xmlns:a16="http://schemas.microsoft.com/office/drawing/2014/main" id="{146B9DE6-C4BB-B81B-528A-B8789445C3FE}"/>
              </a:ext>
            </a:extLst>
          </p:cNvPr>
          <p:cNvPicPr>
            <a:picLocks noChangeAspect="1"/>
          </p:cNvPicPr>
          <p:nvPr/>
        </p:nvPicPr>
        <p:blipFill>
          <a:blip r:embed="rId3"/>
          <a:stretch>
            <a:fillRect/>
          </a:stretch>
        </p:blipFill>
        <p:spPr>
          <a:xfrm>
            <a:off x="561749" y="1004536"/>
            <a:ext cx="10493347" cy="5288404"/>
          </a:xfrm>
          <a:prstGeom prst="rect">
            <a:avLst/>
          </a:prstGeom>
        </p:spPr>
      </p:pic>
      <p:pic>
        <p:nvPicPr>
          <p:cNvPr id="4" name="Picture 3">
            <a:extLst>
              <a:ext uri="{FF2B5EF4-FFF2-40B4-BE49-F238E27FC236}">
                <a16:creationId xmlns:a16="http://schemas.microsoft.com/office/drawing/2014/main" id="{821DD8B8-1BF1-90A3-A54E-1B63CBE64FC3}"/>
              </a:ext>
            </a:extLst>
          </p:cNvPr>
          <p:cNvPicPr>
            <a:picLocks noChangeAspect="1"/>
          </p:cNvPicPr>
          <p:nvPr/>
        </p:nvPicPr>
        <p:blipFill>
          <a:blip r:embed="rId4"/>
          <a:stretch>
            <a:fillRect/>
          </a:stretch>
        </p:blipFill>
        <p:spPr>
          <a:xfrm>
            <a:off x="0" y="816976"/>
            <a:ext cx="12192000" cy="5511433"/>
          </a:xfrm>
          <a:prstGeom prst="rect">
            <a:avLst/>
          </a:prstGeom>
        </p:spPr>
      </p:pic>
    </p:spTree>
    <p:extLst>
      <p:ext uri="{BB962C8B-B14F-4D97-AF65-F5344CB8AC3E}">
        <p14:creationId xmlns:p14="http://schemas.microsoft.com/office/powerpoint/2010/main" val="35850923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E3C4AEBB-2963-4EEE-D8ED-E3B5ABCFF21F}"/>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67AD5A0A-54A3-BC96-26BB-9C49B61555EC}"/>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A12490E1-7210-03FA-8406-7044E50A98B3}"/>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D0575C07-AA6B-0149-734C-B101314C9343}"/>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77B9C142-F05E-0FCB-045D-6B4B10F795C3}"/>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EB55001C-8880-8B09-8704-29D3F62E7A03}"/>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4" name="Picture 3">
            <a:extLst>
              <a:ext uri="{FF2B5EF4-FFF2-40B4-BE49-F238E27FC236}">
                <a16:creationId xmlns:a16="http://schemas.microsoft.com/office/drawing/2014/main" id="{BA6C1B5E-405A-0E58-2397-353A88D82B9B}"/>
              </a:ext>
            </a:extLst>
          </p:cNvPr>
          <p:cNvPicPr>
            <a:picLocks noChangeAspect="1"/>
          </p:cNvPicPr>
          <p:nvPr/>
        </p:nvPicPr>
        <p:blipFill>
          <a:blip r:embed="rId3"/>
          <a:stretch>
            <a:fillRect/>
          </a:stretch>
        </p:blipFill>
        <p:spPr>
          <a:xfrm>
            <a:off x="804493" y="800029"/>
            <a:ext cx="10583014" cy="5945011"/>
          </a:xfrm>
          <a:prstGeom prst="rect">
            <a:avLst/>
          </a:prstGeom>
        </p:spPr>
      </p:pic>
      <p:pic>
        <p:nvPicPr>
          <p:cNvPr id="5" name="Picture 4">
            <a:extLst>
              <a:ext uri="{FF2B5EF4-FFF2-40B4-BE49-F238E27FC236}">
                <a16:creationId xmlns:a16="http://schemas.microsoft.com/office/drawing/2014/main" id="{56115D66-CE60-4BFB-A795-F21D44363E37}"/>
              </a:ext>
            </a:extLst>
          </p:cNvPr>
          <p:cNvPicPr>
            <a:picLocks noChangeAspect="1"/>
          </p:cNvPicPr>
          <p:nvPr/>
        </p:nvPicPr>
        <p:blipFill>
          <a:blip r:embed="rId4"/>
          <a:stretch>
            <a:fillRect/>
          </a:stretch>
        </p:blipFill>
        <p:spPr>
          <a:xfrm>
            <a:off x="0" y="575310"/>
            <a:ext cx="12192000" cy="5707380"/>
          </a:xfrm>
          <a:prstGeom prst="rect">
            <a:avLst/>
          </a:prstGeom>
        </p:spPr>
      </p:pic>
    </p:spTree>
    <p:extLst>
      <p:ext uri="{BB962C8B-B14F-4D97-AF65-F5344CB8AC3E}">
        <p14:creationId xmlns:p14="http://schemas.microsoft.com/office/powerpoint/2010/main" val="26019071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801F34-DB0D-7AB1-35B6-E14AD783230B}"/>
              </a:ext>
            </a:extLst>
          </p:cNvPr>
          <p:cNvSpPr>
            <a:spLocks noGrp="1"/>
          </p:cNvSpPr>
          <p:nvPr>
            <p:ph type="title"/>
          </p:nvPr>
        </p:nvSpPr>
        <p:spPr/>
        <p:txBody>
          <a:bodyPr/>
          <a:lstStyle/>
          <a:p>
            <a:endParaRPr lang="en-US" dirty="0"/>
          </a:p>
        </p:txBody>
      </p:sp>
      <p:sp>
        <p:nvSpPr>
          <p:cNvPr id="3" name="Text Placeholder 2">
            <a:extLst>
              <a:ext uri="{FF2B5EF4-FFF2-40B4-BE49-F238E27FC236}">
                <a16:creationId xmlns:a16="http://schemas.microsoft.com/office/drawing/2014/main" id="{E043E2C5-A669-8D95-A43E-6577CA13DD96}"/>
              </a:ext>
            </a:extLst>
          </p:cNvPr>
          <p:cNvSpPr>
            <a:spLocks noGrp="1"/>
          </p:cNvSpPr>
          <p:nvPr>
            <p:ph type="body" idx="1"/>
          </p:nvPr>
        </p:nvSpPr>
        <p:spPr/>
        <p:txBody>
          <a:bodyPr/>
          <a:lstStyle/>
          <a:p>
            <a:endParaRPr lang="en-US" dirty="0"/>
          </a:p>
        </p:txBody>
      </p:sp>
      <p:pic>
        <p:nvPicPr>
          <p:cNvPr id="5" name="Picture 4">
            <a:extLst>
              <a:ext uri="{FF2B5EF4-FFF2-40B4-BE49-F238E27FC236}">
                <a16:creationId xmlns:a16="http://schemas.microsoft.com/office/drawing/2014/main" id="{DD8D48C4-19D0-0519-498A-DD229B217306}"/>
              </a:ext>
            </a:extLst>
          </p:cNvPr>
          <p:cNvPicPr>
            <a:picLocks noChangeAspect="1"/>
          </p:cNvPicPr>
          <p:nvPr/>
        </p:nvPicPr>
        <p:blipFill>
          <a:blip r:embed="rId2"/>
          <a:stretch>
            <a:fillRect/>
          </a:stretch>
        </p:blipFill>
        <p:spPr>
          <a:xfrm>
            <a:off x="0" y="258417"/>
            <a:ext cx="12192000" cy="6035703"/>
          </a:xfrm>
          <a:prstGeom prst="rect">
            <a:avLst/>
          </a:prstGeom>
        </p:spPr>
      </p:pic>
    </p:spTree>
    <p:extLst>
      <p:ext uri="{BB962C8B-B14F-4D97-AF65-F5344CB8AC3E}">
        <p14:creationId xmlns:p14="http://schemas.microsoft.com/office/powerpoint/2010/main" val="23523359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DCAF65-6556-BAE5-9768-7DC49B7BFD8F}"/>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90891834-3D32-F228-2A46-0822900E18E8}"/>
              </a:ext>
            </a:extLst>
          </p:cNvPr>
          <p:cNvSpPr>
            <a:spLocks noGrp="1"/>
          </p:cNvSpPr>
          <p:nvPr>
            <p:ph type="body" idx="1"/>
          </p:nvPr>
        </p:nvSpPr>
        <p:spPr/>
        <p:txBody>
          <a:bodyPr/>
          <a:lstStyle/>
          <a:p>
            <a:endParaRPr lang="en-US" dirty="0"/>
          </a:p>
        </p:txBody>
      </p:sp>
      <p:pic>
        <p:nvPicPr>
          <p:cNvPr id="5" name="Picture 4">
            <a:extLst>
              <a:ext uri="{FF2B5EF4-FFF2-40B4-BE49-F238E27FC236}">
                <a16:creationId xmlns:a16="http://schemas.microsoft.com/office/drawing/2014/main" id="{B5E0D8A3-A873-6D26-950B-0A2EFAA64E88}"/>
              </a:ext>
            </a:extLst>
          </p:cNvPr>
          <p:cNvPicPr>
            <a:picLocks noChangeAspect="1"/>
          </p:cNvPicPr>
          <p:nvPr/>
        </p:nvPicPr>
        <p:blipFill>
          <a:blip r:embed="rId2"/>
          <a:stretch>
            <a:fillRect/>
          </a:stretch>
        </p:blipFill>
        <p:spPr>
          <a:xfrm>
            <a:off x="0" y="320040"/>
            <a:ext cx="12192000" cy="6537960"/>
          </a:xfrm>
          <a:prstGeom prst="rect">
            <a:avLst/>
          </a:prstGeom>
        </p:spPr>
      </p:pic>
    </p:spTree>
    <p:extLst>
      <p:ext uri="{BB962C8B-B14F-4D97-AF65-F5344CB8AC3E}">
        <p14:creationId xmlns:p14="http://schemas.microsoft.com/office/powerpoint/2010/main" val="9677201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380C2-C4EF-C603-AC30-DCEA1B77C54D}"/>
              </a:ext>
            </a:extLst>
          </p:cNvPr>
          <p:cNvSpPr>
            <a:spLocks noGrp="1"/>
          </p:cNvSpPr>
          <p:nvPr>
            <p:ph type="title"/>
          </p:nvPr>
        </p:nvSpPr>
        <p:spPr/>
        <p:txBody>
          <a:bodyPr/>
          <a:lstStyle/>
          <a:p>
            <a:endParaRPr lang="en-US" dirty="0"/>
          </a:p>
        </p:txBody>
      </p:sp>
      <p:sp>
        <p:nvSpPr>
          <p:cNvPr id="3" name="Text Placeholder 2">
            <a:extLst>
              <a:ext uri="{FF2B5EF4-FFF2-40B4-BE49-F238E27FC236}">
                <a16:creationId xmlns:a16="http://schemas.microsoft.com/office/drawing/2014/main" id="{26B74E65-4F2A-D4BD-BBF1-1D47782BAD23}"/>
              </a:ext>
            </a:extLst>
          </p:cNvPr>
          <p:cNvSpPr>
            <a:spLocks noGrp="1"/>
          </p:cNvSpPr>
          <p:nvPr>
            <p:ph type="body" idx="1"/>
          </p:nvPr>
        </p:nvSpPr>
        <p:spPr/>
        <p:txBody>
          <a:bodyPr/>
          <a:lstStyle/>
          <a:p>
            <a:endParaRPr lang="en-US"/>
          </a:p>
        </p:txBody>
      </p:sp>
      <p:pic>
        <p:nvPicPr>
          <p:cNvPr id="5" name="Picture 4">
            <a:extLst>
              <a:ext uri="{FF2B5EF4-FFF2-40B4-BE49-F238E27FC236}">
                <a16:creationId xmlns:a16="http://schemas.microsoft.com/office/drawing/2014/main" id="{E17075AB-A223-25C9-CD0D-9EE7A397A8CD}"/>
              </a:ext>
            </a:extLst>
          </p:cNvPr>
          <p:cNvPicPr>
            <a:picLocks noChangeAspect="1"/>
          </p:cNvPicPr>
          <p:nvPr/>
        </p:nvPicPr>
        <p:blipFill>
          <a:blip r:embed="rId2"/>
          <a:stretch>
            <a:fillRect/>
          </a:stretch>
        </p:blipFill>
        <p:spPr>
          <a:xfrm>
            <a:off x="0" y="506730"/>
            <a:ext cx="12192000" cy="5844540"/>
          </a:xfrm>
          <a:prstGeom prst="rect">
            <a:avLst/>
          </a:prstGeom>
        </p:spPr>
      </p:pic>
    </p:spTree>
    <p:extLst>
      <p:ext uri="{BB962C8B-B14F-4D97-AF65-F5344CB8AC3E}">
        <p14:creationId xmlns:p14="http://schemas.microsoft.com/office/powerpoint/2010/main" val="9670824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9161890" cy="461665"/>
          </a:xfrm>
          <a:prstGeom prst="rect">
            <a:avLst/>
          </a:prstGeom>
          <a:noFill/>
        </p:spPr>
        <p:txBody>
          <a:bodyPr wrap="square" rtlCol="0">
            <a:spAutoFit/>
          </a:bodyPr>
          <a:lstStyle/>
          <a:p>
            <a:r>
              <a:rPr lang="en-US" sz="2400" b="1" dirty="0"/>
              <a:t>Novelty and Uniqueness</a:t>
            </a:r>
            <a:endParaRPr lang="en-IN" sz="24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946298"/>
            <a:ext cx="10553369" cy="5847755"/>
          </a:xfrm>
          <a:prstGeom prst="rect">
            <a:avLst/>
          </a:prstGeom>
          <a:noFill/>
        </p:spPr>
        <p:txBody>
          <a:bodyPr wrap="square" rtlCol="0">
            <a:spAutoFit/>
          </a:bodyPr>
          <a:lstStyle/>
          <a:p>
            <a:r>
              <a:rPr lang="en-US" sz="2000" dirty="0"/>
              <a:t>The proposed </a:t>
            </a:r>
            <a:r>
              <a:rPr lang="en-US" sz="2000" b="1" dirty="0"/>
              <a:t>Startup Blueprint Generator Agent</a:t>
            </a:r>
            <a:r>
              <a:rPr lang="en-US" sz="2000" dirty="0"/>
              <a:t> stands out by combining </a:t>
            </a:r>
            <a:r>
              <a:rPr lang="en-US" sz="2000" b="1" dirty="0"/>
              <a:t>Agentic AI, RAG, and personalized startup planning</a:t>
            </a:r>
            <a:r>
              <a:rPr lang="en-US" sz="2000" dirty="0"/>
              <a:t> in a single system.</a:t>
            </a:r>
          </a:p>
          <a:p>
            <a:pPr>
              <a:buFont typeface="Arial" panose="020B0604020202020204" pitchFamily="34" charset="0"/>
              <a:buChar char="•"/>
            </a:pPr>
            <a:r>
              <a:rPr lang="en-US" sz="2000" b="1" dirty="0"/>
              <a:t> Multi-Agent Intelligence</a:t>
            </a:r>
            <a:r>
              <a:rPr lang="en-US" sz="2000" dirty="0"/>
              <a:t> – Specialized agents work together for market, competitor, business model, funding, and legal analysis. </a:t>
            </a:r>
          </a:p>
          <a:p>
            <a:pPr>
              <a:buFont typeface="Arial" panose="020B0604020202020204" pitchFamily="34" charset="0"/>
              <a:buChar char="•"/>
            </a:pPr>
            <a:r>
              <a:rPr lang="en-US" sz="2000" b="1" dirty="0"/>
              <a:t> RAG-Based Accuracy</a:t>
            </a:r>
            <a:r>
              <a:rPr lang="en-US" sz="2000" dirty="0"/>
              <a:t> – Uses trusted information to provide relevant and reliable startup recommendations. </a:t>
            </a:r>
          </a:p>
          <a:p>
            <a:pPr>
              <a:buFont typeface="Arial" panose="020B0604020202020204" pitchFamily="34" charset="0"/>
              <a:buChar char="•"/>
            </a:pPr>
            <a:r>
              <a:rPr lang="en-US" sz="2000" b="1" dirty="0"/>
              <a:t> Personalized Planning</a:t>
            </a:r>
            <a:r>
              <a:rPr lang="en-US" sz="2000" dirty="0"/>
              <a:t> – Generates a blueprint based on the user's startup idea, budget, target market, and industry. </a:t>
            </a:r>
          </a:p>
          <a:p>
            <a:pPr>
              <a:buFont typeface="Arial" panose="020B0604020202020204" pitchFamily="34" charset="0"/>
              <a:buChar char="•"/>
            </a:pPr>
            <a:r>
              <a:rPr lang="en-US" sz="2000" b="1" dirty="0"/>
              <a:t> Complete Business Blueprint</a:t>
            </a:r>
            <a:r>
              <a:rPr lang="en-US" sz="2000" dirty="0"/>
              <a:t> – Covers market research, competitors, BMC, revenue, budget, marketing, funding, and legal requirements. </a:t>
            </a:r>
          </a:p>
          <a:p>
            <a:pPr>
              <a:buFont typeface="Arial" panose="020B0604020202020204" pitchFamily="34" charset="0"/>
              <a:buChar char="•"/>
            </a:pPr>
            <a:r>
              <a:rPr lang="en-US" sz="2000" b="1" dirty="0"/>
              <a:t> Action-Oriented Strategy</a:t>
            </a:r>
            <a:r>
              <a:rPr lang="en-US" sz="2000" dirty="0"/>
              <a:t> – Provides practical </a:t>
            </a:r>
            <a:r>
              <a:rPr lang="en-US" sz="2000" b="1" dirty="0"/>
              <a:t>go-to-market plans and next steps</a:t>
            </a:r>
            <a:r>
              <a:rPr lang="en-US" sz="2000" dirty="0"/>
              <a:t> instead of only giving general suggestions. </a:t>
            </a:r>
          </a:p>
          <a:p>
            <a:pPr>
              <a:buFont typeface="Arial" panose="020B0604020202020204" pitchFamily="34" charset="0"/>
              <a:buChar char="•"/>
            </a:pPr>
            <a:r>
              <a:rPr lang="en-US" sz="2000" b="1" dirty="0"/>
              <a:t> Funding &amp; Scheme Discovery</a:t>
            </a:r>
            <a:r>
              <a:rPr lang="en-US" sz="2000" dirty="0"/>
              <a:t> – Identifies relevant grants, government schemes, incubators, and funding opportunities. </a:t>
            </a:r>
          </a:p>
          <a:p>
            <a:pPr>
              <a:buFont typeface="Arial" panose="020B0604020202020204" pitchFamily="34" charset="0"/>
              <a:buChar char="•"/>
            </a:pPr>
            <a:r>
              <a:rPr lang="en-US" sz="2000" b="1" dirty="0"/>
              <a:t> Easy-to-Use Dashboard</a:t>
            </a:r>
            <a:r>
              <a:rPr lang="en-US" sz="2000" dirty="0"/>
              <a:t> – Presents the complete startup plan in a clear and structured format. </a:t>
            </a:r>
          </a:p>
          <a:p>
            <a:r>
              <a:rPr lang="en-US" sz="2000" b="1" dirty="0"/>
              <a:t>Overall, the solution acts as an intelligent startup planning assistant that helps users move from a raw idea to a practical and actionable business blueprint.</a:t>
            </a:r>
            <a:endParaRPr lang="en-US" sz="2000" dirty="0"/>
          </a:p>
          <a:p>
            <a:endParaRPr lang="en-IN" dirty="0"/>
          </a:p>
        </p:txBody>
      </p:sp>
    </p:spTree>
    <p:extLst>
      <p:ext uri="{BB962C8B-B14F-4D97-AF65-F5344CB8AC3E}">
        <p14:creationId xmlns:p14="http://schemas.microsoft.com/office/powerpoint/2010/main" val="23252822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Git Hub Link</a:t>
            </a:r>
            <a:endParaRPr sz="2400" b="1">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00" dirty="0" err="1">
                <a:solidFill>
                  <a:srgbClr val="2B3541"/>
                </a:solidFill>
                <a:latin typeface="+mn-lt"/>
                <a:ea typeface="Times New Roman"/>
                <a:cs typeface="Times New Roman"/>
                <a:sym typeface="Times New Roman"/>
              </a:rPr>
              <a:t>Github</a:t>
            </a:r>
            <a:r>
              <a:rPr lang="en-US" sz="1800" dirty="0">
                <a:solidFill>
                  <a:srgbClr val="2B3541"/>
                </a:solidFill>
                <a:latin typeface="+mn-lt"/>
                <a:ea typeface="Times New Roman"/>
                <a:cs typeface="Times New Roman"/>
                <a:sym typeface="Times New Roman"/>
              </a:rPr>
              <a:t> URL:</a:t>
            </a:r>
            <a:r>
              <a:rPr lang="en-US" sz="1800" dirty="0">
                <a:solidFill>
                  <a:srgbClr val="2B3541"/>
                </a:solidFill>
                <a:latin typeface="+mn-lt"/>
                <a:ea typeface="Times New Roman"/>
                <a:cs typeface="Times New Roman"/>
                <a:sym typeface="Times New Roman"/>
                <a:hlinkClick r:id="rId3"/>
              </a:rPr>
              <a:t>https://github.com/sarveshwaran777/Start-up-_blueprints_generator</a:t>
            </a:r>
            <a:endParaRPr sz="1800" b="0" i="0" u="none" strike="noStrike" cap="none" dirty="0">
              <a:solidFill>
                <a:srgbClr val="000000"/>
              </a:solidFill>
              <a:latin typeface="+mn-lt"/>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40404122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Future Scope </a:t>
            </a:r>
            <a:endParaRPr sz="2400" b="1">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Google Shape;279;p18">
            <a:extLst>
              <a:ext uri="{FF2B5EF4-FFF2-40B4-BE49-F238E27FC236}">
                <a16:creationId xmlns:a16="http://schemas.microsoft.com/office/drawing/2014/main" id="{EAFA16CB-0A72-5AC5-69A0-ABF4A752B43F}"/>
              </a:ext>
            </a:extLst>
          </p:cNvPr>
          <p:cNvSpPr/>
          <p:nvPr/>
        </p:nvSpPr>
        <p:spPr>
          <a:xfrm>
            <a:off x="1347932" y="1124746"/>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5" name="TextBox 4">
            <a:extLst>
              <a:ext uri="{FF2B5EF4-FFF2-40B4-BE49-F238E27FC236}">
                <a16:creationId xmlns:a16="http://schemas.microsoft.com/office/drawing/2014/main" id="{DE2F6098-ACD7-55D8-1265-251C328AEE6D}"/>
              </a:ext>
            </a:extLst>
          </p:cNvPr>
          <p:cNvSpPr txBox="1"/>
          <p:nvPr/>
        </p:nvSpPr>
        <p:spPr>
          <a:xfrm>
            <a:off x="1347932" y="1393946"/>
            <a:ext cx="10310668" cy="4708981"/>
          </a:xfrm>
          <a:prstGeom prst="rect">
            <a:avLst/>
          </a:prstGeom>
          <a:noFill/>
        </p:spPr>
        <p:txBody>
          <a:bodyPr wrap="square">
            <a:spAutoFit/>
          </a:bodyPr>
          <a:lstStyle/>
          <a:p>
            <a:r>
              <a:rPr lang="en-US" sz="2000" b="1" dirty="0"/>
              <a:t>1.Real-Time Market &amp; Funding Updates</a:t>
            </a:r>
            <a:r>
              <a:rPr lang="en-US" sz="2000" dirty="0"/>
              <a:t> –</a:t>
            </a:r>
          </a:p>
          <a:p>
            <a:br>
              <a:rPr lang="en-US" sz="2000" dirty="0"/>
            </a:br>
            <a:r>
              <a:rPr lang="en-US" sz="2000" dirty="0"/>
              <a:t> The system can be connected to reliable online sources to provide updated information about </a:t>
            </a:r>
            <a:r>
              <a:rPr lang="en-US" sz="2000" b="1" dirty="0"/>
              <a:t>market trends, competitors, government schemes, grants, and funding opportunities</a:t>
            </a:r>
            <a:r>
              <a:rPr lang="en-US" sz="2000" dirty="0"/>
              <a:t>.</a:t>
            </a:r>
          </a:p>
          <a:p>
            <a:pPr marL="342900" indent="-342900">
              <a:buAutoNum type="arabicPeriod"/>
            </a:pPr>
            <a:endParaRPr lang="en-US" sz="2000" dirty="0"/>
          </a:p>
          <a:p>
            <a:r>
              <a:rPr lang="en-US" sz="2000" b="1" dirty="0"/>
              <a:t>2.Multilingual &amp; Voice Support</a:t>
            </a:r>
            <a:r>
              <a:rPr lang="en-US" sz="2000" dirty="0"/>
              <a:t> –</a:t>
            </a:r>
          </a:p>
          <a:p>
            <a:br>
              <a:rPr lang="en-US" sz="2000" dirty="0"/>
            </a:br>
            <a:r>
              <a:rPr lang="en-US" sz="2000" dirty="0"/>
              <a:t> The agent can support </a:t>
            </a:r>
            <a:r>
              <a:rPr lang="en-US" sz="2000" b="1" dirty="0"/>
              <a:t>multiple Indian languages and voice interaction</a:t>
            </a:r>
            <a:r>
              <a:rPr lang="en-US" sz="2000" dirty="0"/>
              <a:t>, making startup planning easier and more accessible to users from different regions.</a:t>
            </a:r>
          </a:p>
          <a:p>
            <a:endParaRPr lang="en-US" sz="2000" dirty="0"/>
          </a:p>
          <a:p>
            <a:r>
              <a:rPr lang="en-US" sz="2000" b="1" dirty="0"/>
              <a:t>3.Investor &amp; Incubator Matching</a:t>
            </a:r>
            <a:r>
              <a:rPr lang="en-US" sz="2000" dirty="0"/>
              <a:t> –</a:t>
            </a:r>
          </a:p>
          <a:p>
            <a:br>
              <a:rPr lang="en-US" sz="2000" dirty="0"/>
            </a:br>
            <a:r>
              <a:rPr lang="en-US" sz="2000" dirty="0"/>
              <a:t> The system can recommend suitable </a:t>
            </a:r>
            <a:r>
              <a:rPr lang="en-US" sz="2000" b="1" dirty="0"/>
              <a:t>investors, incubators, and accelerators</a:t>
            </a:r>
            <a:r>
              <a:rPr lang="en-US" sz="2000" dirty="0"/>
              <a:t> based on the startup idea, industry, location, and funding requirements</a:t>
            </a:r>
            <a:r>
              <a:rPr lang="en-US" dirty="0"/>
              <a:t>.</a:t>
            </a:r>
          </a:p>
        </p:txBody>
      </p:sp>
    </p:spTree>
    <p:extLst>
      <p:ext uri="{BB962C8B-B14F-4D97-AF65-F5344CB8AC3E}">
        <p14:creationId xmlns:p14="http://schemas.microsoft.com/office/powerpoint/2010/main" val="74002846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pic>
        <p:nvPicPr>
          <p:cNvPr id="11" name="Picture 10">
            <a:extLst>
              <a:ext uri="{FF2B5EF4-FFF2-40B4-BE49-F238E27FC236}">
                <a16:creationId xmlns:a16="http://schemas.microsoft.com/office/drawing/2014/main" id="{3270A719-F546-7DA7-1527-8A42F524D2D4}"/>
              </a:ext>
            </a:extLst>
          </p:cNvPr>
          <p:cNvPicPr>
            <a:picLocks noChangeAspect="1"/>
          </p:cNvPicPr>
          <p:nvPr/>
        </p:nvPicPr>
        <p:blipFill>
          <a:blip r:embed="rId2"/>
          <a:stretch>
            <a:fillRect/>
          </a:stretch>
        </p:blipFill>
        <p:spPr>
          <a:xfrm>
            <a:off x="2202425" y="884488"/>
            <a:ext cx="7325033" cy="5502372"/>
          </a:xfrm>
          <a:prstGeom prst="rect">
            <a:avLst/>
          </a:prstGeom>
        </p:spPr>
      </p:pic>
    </p:spTree>
    <p:extLst>
      <p:ext uri="{BB962C8B-B14F-4D97-AF65-F5344CB8AC3E}">
        <p14:creationId xmlns:p14="http://schemas.microsoft.com/office/powerpoint/2010/main" val="28334827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sp>
        <p:nvSpPr>
          <p:cNvPr id="6" name="TextBox 5">
            <a:extLst>
              <a:ext uri="{FF2B5EF4-FFF2-40B4-BE49-F238E27FC236}">
                <a16:creationId xmlns:a16="http://schemas.microsoft.com/office/drawing/2014/main" id="{C0D36B1A-26C2-CD55-1032-4CB5E4EDF305}"/>
              </a:ext>
            </a:extLst>
          </p:cNvPr>
          <p:cNvSpPr txBox="1"/>
          <p:nvPr/>
        </p:nvSpPr>
        <p:spPr>
          <a:xfrm>
            <a:off x="496843" y="800470"/>
            <a:ext cx="543768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t>Add your IBM BOB Certificate</a:t>
            </a:r>
          </a:p>
        </p:txBody>
      </p:sp>
      <p:pic>
        <p:nvPicPr>
          <p:cNvPr id="7" name="Picture 6">
            <a:extLst>
              <a:ext uri="{FF2B5EF4-FFF2-40B4-BE49-F238E27FC236}">
                <a16:creationId xmlns:a16="http://schemas.microsoft.com/office/drawing/2014/main" id="{0A41CADE-60AC-467B-0320-DC00C9851F19}"/>
              </a:ext>
            </a:extLst>
          </p:cNvPr>
          <p:cNvPicPr>
            <a:picLocks noChangeAspect="1"/>
          </p:cNvPicPr>
          <p:nvPr/>
        </p:nvPicPr>
        <p:blipFill>
          <a:blip r:embed="rId2"/>
          <a:stretch>
            <a:fillRect/>
          </a:stretch>
        </p:blipFill>
        <p:spPr>
          <a:xfrm>
            <a:off x="1917290" y="1477578"/>
            <a:ext cx="8209936" cy="4832554"/>
          </a:xfrm>
          <a:prstGeom prst="rect">
            <a:avLst/>
          </a:prstGeom>
        </p:spPr>
      </p:pic>
    </p:spTree>
    <p:extLst>
      <p:ext uri="{BB962C8B-B14F-4D97-AF65-F5344CB8AC3E}">
        <p14:creationId xmlns:p14="http://schemas.microsoft.com/office/powerpoint/2010/main" val="417517770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extLst>
      <p:ext uri="{BB962C8B-B14F-4D97-AF65-F5344CB8AC3E}">
        <p14:creationId xmlns:p14="http://schemas.microsoft.com/office/powerpoint/2010/main" val="1440137342"/>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106</TotalTime>
  <Words>1022</Words>
  <Application>Microsoft Office PowerPoint</Application>
  <PresentationFormat>Widescreen</PresentationFormat>
  <Paragraphs>121</Paragraphs>
  <Slides>24</Slides>
  <Notes>17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Arial</vt:lpstr>
      <vt:lpstr>Calibri</vt:lpstr>
      <vt:lpstr>Times New Roman</vt:lpstr>
      <vt:lpstr>Wingdings</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Sasmitha M</cp:lastModifiedBy>
  <cp:revision>6</cp:revision>
  <dcterms:created xsi:type="dcterms:W3CDTF">2025-07-08T05:06:56Z</dcterms:created>
  <dcterms:modified xsi:type="dcterms:W3CDTF">2026-09-11T17:58:11Z</dcterms:modified>
</cp:coreProperties>
</file>